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60" r:id="rId11"/>
    <p:sldId id="259" r:id="rId12"/>
    <p:sldId id="278" r:id="rId13"/>
  </p:sldIdLst>
  <p:sldSz cx="9144000" cy="5143500" type="screen16x9"/>
  <p:notesSz cx="6858000" cy="9144000"/>
  <p:embeddedFontLst>
    <p:embeddedFont>
      <p:font typeface="Aptos Mono" panose="020B0009020202020204" pitchFamily="49" charset="0"/>
      <p:regular r:id="rId15"/>
      <p:bold r:id="rId16"/>
      <p:italic r:id="rId17"/>
      <p:boldItalic r:id="rId18"/>
    </p:embeddedFont>
    <p:embeddedFont>
      <p:font typeface="Maven Pro" pitchFamily="2" charset="77"/>
      <p:regular r:id="rId19"/>
      <p:bold r:id="rId20"/>
    </p:embeddedFont>
    <p:embeddedFont>
      <p:font typeface="Nunito" pitchFamily="2" charset="77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rew Mortenson" initials="" lastIdx="11" clrIdx="0"/>
  <p:cmAuthor id="1" name="Jayana Sarma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84"/>
  </p:normalViewPr>
  <p:slideViewPr>
    <p:cSldViewPr snapToGrid="0">
      <p:cViewPr varScale="1">
        <p:scale>
          <a:sx n="163" d="100"/>
          <a:sy n="163" d="100"/>
        </p:scale>
        <p:origin x="1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52c11a5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52c11a57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52c11a57a_0_1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552c11a57a_0_1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55414181f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55414181f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803050" y="153975"/>
            <a:ext cx="7796700" cy="474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Fraud Detection Using Machine Learning and Neural Networks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Jayana Sarma, Nayana </a:t>
            </a:r>
            <a:r>
              <a:rPr lang="en" sz="20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Nagarajappa</a:t>
            </a:r>
            <a:br>
              <a:rPr lang="e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 b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0" dirty="0"/>
              <a:t>                                                                                                        </a:t>
            </a:r>
            <a:endParaRPr sz="17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title"/>
          </p:nvPr>
        </p:nvSpPr>
        <p:spPr>
          <a:xfrm>
            <a:off x="1171393" y="566686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Context</a:t>
            </a:r>
          </a:p>
        </p:txBody>
      </p:sp>
      <p:sp>
        <p:nvSpPr>
          <p:cNvPr id="284" name="Google Shape;284;p14"/>
          <p:cNvSpPr txBox="1">
            <a:spLocks noGrp="1"/>
          </p:cNvSpPr>
          <p:nvPr>
            <p:ph type="body" idx="4294967295"/>
          </p:nvPr>
        </p:nvSpPr>
        <p:spPr>
          <a:xfrm>
            <a:off x="311700" y="1208225"/>
            <a:ext cx="4069800" cy="3264408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 marL="146050" indent="0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1" i="0" u="none" strike="noStrike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Credit Card Fraud Detection Matters</a:t>
            </a:r>
          </a:p>
          <a:p>
            <a:pPr marL="146050" indent="0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fraud detection is a real-world binary classification problem where the goal is to identify      whether a transaction is: 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Legitimate 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Fraudulent</a:t>
            </a:r>
          </a:p>
          <a:p>
            <a:pPr marL="146050" indent="0">
              <a:spcAft>
                <a:spcPts val="600"/>
              </a:spcAft>
              <a:buClr>
                <a:srgbClr val="000000"/>
              </a:buClr>
              <a:buNone/>
            </a:pPr>
            <a:endParaRPr lang="en-US" b="0" i="0" u="none" strike="noStrike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challenge:</a:t>
            </a:r>
          </a:p>
          <a:p>
            <a:pPr marL="14605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model can achieve very high accuracy by predicting almost every transaction as legitimate, but that would not be useful for detecting fraud.</a:t>
            </a:r>
          </a:p>
          <a:p>
            <a:pPr marL="158750" lvl="0" indent="0"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b="0" i="0" u="none" strike="noStrike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b="0" i="0" u="none" strike="noStrike" cap="none" dirty="0"/>
          </a:p>
        </p:txBody>
      </p:sp>
      <p:pic>
        <p:nvPicPr>
          <p:cNvPr id="5" name="Image 0" descr="/mnt/data/fraud_assets/class_imbalance.png">
            <a:extLst>
              <a:ext uri="{FF2B5EF4-FFF2-40B4-BE49-F238E27FC236}">
                <a16:creationId xmlns:a16="http://schemas.microsoft.com/office/drawing/2014/main" id="{8629DAFE-8E23-D1F5-3369-C76AEFAA9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262" y="1139386"/>
            <a:ext cx="4449038" cy="25025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375" y="150876"/>
            <a:ext cx="82296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Dataset and preprocessing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7242" y="637794"/>
            <a:ext cx="8312365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the Kaggle Credit Card Fraud Detection dataset. </a:t>
            </a:r>
            <a:r>
              <a:rPr lang="en-US" sz="125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Anonymized transaction features were prepared for supervised binary classification.</a:t>
            </a:r>
          </a:p>
        </p:txBody>
      </p:sp>
      <p:sp>
        <p:nvSpPr>
          <p:cNvPr id="4" name="Shape 2"/>
          <p:cNvSpPr/>
          <p:nvPr/>
        </p:nvSpPr>
        <p:spPr>
          <a:xfrm>
            <a:off x="582930" y="1062990"/>
            <a:ext cx="243459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582930" y="1062990"/>
            <a:ext cx="68580" cy="7406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774954" y="1220724"/>
            <a:ext cx="2057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columns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4954" y="1474470"/>
            <a:ext cx="2057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Time, Amount, V1–V28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26130" y="1062990"/>
            <a:ext cx="243459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3326130" y="1062990"/>
            <a:ext cx="68580" cy="7406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3518154" y="1220724"/>
            <a:ext cx="2057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18154" y="1474470"/>
            <a:ext cx="2057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Class: 0 = legit, 1 = fraud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69330" y="1062990"/>
            <a:ext cx="243459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6069330" y="1062990"/>
            <a:ext cx="68580" cy="7406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6261354" y="1220724"/>
            <a:ext cx="2057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61354" y="1474470"/>
            <a:ext cx="2057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Stratified train / validation / test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1510" y="229743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and modeling setup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2084" y="2688336"/>
            <a:ext cx="3669030" cy="78867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Autofit/>
          </a:bodyPr>
          <a:lstStyle/>
          <a:p>
            <a:r>
              <a:rPr lang="en-US"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Checked feature structure and class imbalance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Scaled numeric features for models requiring preprocessing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Compared baseline, tree-based, boosting, and neural network models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903470" y="2228850"/>
            <a:ext cx="3497580" cy="10972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4972050" y="2345436"/>
            <a:ext cx="30861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App-ready feature contract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72050" y="2674620"/>
            <a:ext cx="325755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app expects the same training columns and reorders them before prediction, reducing training-serving mismatch.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503170" y="4217670"/>
            <a:ext cx="4114800" cy="37719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2640330" y="433425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Consistent preprocessing prevents training-serving mismatch</a:t>
            </a:r>
            <a:r>
              <a:rPr lang="en-US" sz="938" b="1" dirty="0">
                <a:solidFill>
                  <a:srgbClr val="2563EB"/>
                </a:solidFill>
              </a:rPr>
              <a:t>.</a:t>
            </a:r>
            <a:endParaRPr lang="en-US" sz="93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344" y="356616"/>
            <a:ext cx="59664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Solution workflow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66344" y="72694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50" dirty="0">
                <a:solidFill>
                  <a:srgbClr val="5C6B8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 project was built as an end-to-end modeling and demo pipeline.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0921" y="1416177"/>
            <a:ext cx="1522476" cy="1385316"/>
          </a:xfrm>
          <a:prstGeom prst="roundRect">
            <a:avLst>
              <a:gd name="adj" fmla="val 3465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480060" y="1385316"/>
            <a:ext cx="1522476" cy="1385316"/>
          </a:xfrm>
          <a:prstGeom prst="roundRect">
            <a:avLst>
              <a:gd name="adj" fmla="val 346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984123" y="1138428"/>
            <a:ext cx="514350" cy="51435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1159002" y="13030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89788" y="1783080"/>
            <a:ext cx="13030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Explore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3504" y="2173986"/>
            <a:ext cx="12755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250" dirty="0">
                <a:solidFill>
                  <a:srgbClr val="2430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Class imbalance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50" dirty="0">
                <a:solidFill>
                  <a:srgbClr val="2430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Feature overview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73427" y="1416177"/>
            <a:ext cx="1522476" cy="1385316"/>
          </a:xfrm>
          <a:prstGeom prst="roundRect">
            <a:avLst>
              <a:gd name="adj" fmla="val 3465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2242566" y="1385316"/>
            <a:ext cx="1522476" cy="1385316"/>
          </a:xfrm>
          <a:prstGeom prst="roundRect">
            <a:avLst>
              <a:gd name="adj" fmla="val 346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2746629" y="1138428"/>
            <a:ext cx="514350" cy="514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2921508" y="13030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352294" y="1783080"/>
            <a:ext cx="13030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Preprocess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366010" y="2173986"/>
            <a:ext cx="12755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250" dirty="0">
                <a:solidFill>
                  <a:srgbClr val="2430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Scale features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50" dirty="0">
                <a:solidFill>
                  <a:srgbClr val="2430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Create splits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035933" y="1416177"/>
            <a:ext cx="1522476" cy="1385316"/>
          </a:xfrm>
          <a:prstGeom prst="roundRect">
            <a:avLst>
              <a:gd name="adj" fmla="val 3465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005072" y="1385316"/>
            <a:ext cx="1522476" cy="1385316"/>
          </a:xfrm>
          <a:prstGeom prst="roundRect">
            <a:avLst>
              <a:gd name="adj" fmla="val 346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4509135" y="1138428"/>
            <a:ext cx="514350" cy="51435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4684014" y="13030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114800" y="1783080"/>
            <a:ext cx="13030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Train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28516" y="2173986"/>
            <a:ext cx="12755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250" dirty="0">
                <a:solidFill>
                  <a:srgbClr val="2430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Baseline + RF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50" dirty="0">
                <a:solidFill>
                  <a:srgbClr val="2430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NN + XGBoost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798439" y="1416177"/>
            <a:ext cx="1522476" cy="1385316"/>
          </a:xfrm>
          <a:prstGeom prst="roundRect">
            <a:avLst>
              <a:gd name="adj" fmla="val 3465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5767578" y="1385316"/>
            <a:ext cx="1522476" cy="1385316"/>
          </a:xfrm>
          <a:prstGeom prst="roundRect">
            <a:avLst>
              <a:gd name="adj" fmla="val 346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6271641" y="1138428"/>
            <a:ext cx="514350" cy="51435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6446520" y="13030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877306" y="1783080"/>
            <a:ext cx="13030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Tune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891022" y="2173986"/>
            <a:ext cx="12755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250" dirty="0">
                <a:solidFill>
                  <a:srgbClr val="2430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Adjust threshold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50" dirty="0">
                <a:solidFill>
                  <a:srgbClr val="2430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Optimize F1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560945" y="1416177"/>
            <a:ext cx="1522476" cy="1385316"/>
          </a:xfrm>
          <a:prstGeom prst="roundRect">
            <a:avLst>
              <a:gd name="adj" fmla="val 3465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7530084" y="1385316"/>
            <a:ext cx="1522476" cy="1385316"/>
          </a:xfrm>
          <a:prstGeom prst="roundRect">
            <a:avLst>
              <a:gd name="adj" fmla="val 346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8034147" y="1138428"/>
            <a:ext cx="514350" cy="51435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8209026" y="13030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7639812" y="1783080"/>
            <a:ext cx="13030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Demo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653528" y="2173986"/>
            <a:ext cx="12755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250" dirty="0">
                <a:solidFill>
                  <a:srgbClr val="2430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Upload CSV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50" dirty="0">
                <a:solidFill>
                  <a:srgbClr val="24304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Predict fraud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002536" y="2084832"/>
            <a:ext cx="226314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3765042" y="2084832"/>
            <a:ext cx="226314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050"/>
          </a:p>
        </p:txBody>
      </p:sp>
      <p:sp>
        <p:nvSpPr>
          <p:cNvPr id="36" name="Shape 34"/>
          <p:cNvSpPr/>
          <p:nvPr/>
        </p:nvSpPr>
        <p:spPr>
          <a:xfrm>
            <a:off x="5527548" y="2084832"/>
            <a:ext cx="226314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050"/>
          </a:p>
        </p:txBody>
      </p:sp>
      <p:sp>
        <p:nvSpPr>
          <p:cNvPr id="37" name="Shape 35"/>
          <p:cNvSpPr/>
          <p:nvPr/>
        </p:nvSpPr>
        <p:spPr>
          <a:xfrm>
            <a:off x="7290054" y="2084832"/>
            <a:ext cx="226314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692658" y="3689604"/>
            <a:ext cx="17830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50" b="1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Models compared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92658" y="3991356"/>
            <a:ext cx="768096" cy="240030"/>
          </a:xfrm>
          <a:prstGeom prst="roundRect">
            <a:avLst>
              <a:gd name="adj" fmla="val 2285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726948" y="4042791"/>
            <a:ext cx="6995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50" b="1" dirty="0">
                <a:solidFill>
                  <a:srgbClr val="2563E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Logistic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570482" y="3991356"/>
            <a:ext cx="1145286" cy="240030"/>
          </a:xfrm>
          <a:prstGeom prst="roundRect">
            <a:avLst>
              <a:gd name="adj" fmla="val 2285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1604772" y="4042791"/>
            <a:ext cx="107670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50" b="1" dirty="0">
                <a:solidFill>
                  <a:srgbClr val="2563E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Balanced Logistic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818638" y="3991356"/>
            <a:ext cx="1042416" cy="240030"/>
          </a:xfrm>
          <a:prstGeom prst="roundRect">
            <a:avLst>
              <a:gd name="adj" fmla="val 2285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2852928" y="4042791"/>
            <a:ext cx="9738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50" b="1" dirty="0">
                <a:solidFill>
                  <a:srgbClr val="10B98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Random Forest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005072" y="3991356"/>
            <a:ext cx="1145286" cy="240030"/>
          </a:xfrm>
          <a:prstGeom prst="roundRect">
            <a:avLst>
              <a:gd name="adj" fmla="val 2285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6" name="Text 44"/>
          <p:cNvSpPr/>
          <p:nvPr/>
        </p:nvSpPr>
        <p:spPr>
          <a:xfrm>
            <a:off x="4039362" y="4042791"/>
            <a:ext cx="107670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50" b="1" dirty="0">
                <a:solidFill>
                  <a:srgbClr val="7C3AE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Neural Network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349240" y="3991356"/>
            <a:ext cx="1014984" cy="240030"/>
          </a:xfrm>
          <a:prstGeom prst="roundRect">
            <a:avLst>
              <a:gd name="adj" fmla="val 2285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5321808" y="4042791"/>
            <a:ext cx="9464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50" b="1" dirty="0">
                <a:solidFill>
                  <a:srgbClr val="7C3AE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Improved NN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535674" y="3991356"/>
            <a:ext cx="802386" cy="240030"/>
          </a:xfrm>
          <a:prstGeom prst="roundRect">
            <a:avLst>
              <a:gd name="adj" fmla="val 22857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0" name="Text 48"/>
          <p:cNvSpPr/>
          <p:nvPr/>
        </p:nvSpPr>
        <p:spPr>
          <a:xfrm>
            <a:off x="6467094" y="4042791"/>
            <a:ext cx="73380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50" b="1" dirty="0">
                <a:solidFill>
                  <a:srgbClr val="F97316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XGBoost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372350" y="3991356"/>
            <a:ext cx="1152144" cy="240030"/>
          </a:xfrm>
          <a:prstGeom prst="roundRect">
            <a:avLst>
              <a:gd name="adj" fmla="val 2285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2" name="Text 50"/>
          <p:cNvSpPr/>
          <p:nvPr/>
        </p:nvSpPr>
        <p:spPr>
          <a:xfrm>
            <a:off x="7406640" y="4042791"/>
            <a:ext cx="10835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50" b="1" dirty="0">
                <a:solidFill>
                  <a:srgbClr val="DC2626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RF Threshold 0.3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3731"/>
            <a:ext cx="82296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Evaluation metrics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4047" y="630936"/>
            <a:ext cx="8142537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fraud cases are rare, accuracy can be misleading</a:t>
            </a:r>
            <a:r>
              <a:rPr lang="en-US" sz="1013" dirty="0">
                <a:solidFill>
                  <a:srgbClr val="64748B"/>
                </a:solidFill>
              </a:rPr>
              <a:t>.</a:t>
            </a:r>
          </a:p>
          <a:p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these metrics:</a:t>
            </a:r>
            <a:endParaRPr lang="en-US" sz="1250" dirty="0">
              <a:solidFill>
                <a:srgbClr val="647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13" dirty="0"/>
          </a:p>
        </p:txBody>
      </p:sp>
      <p:sp>
        <p:nvSpPr>
          <p:cNvPr id="4" name="Shape 2"/>
          <p:cNvSpPr/>
          <p:nvPr/>
        </p:nvSpPr>
        <p:spPr>
          <a:xfrm>
            <a:off x="582930" y="1062990"/>
            <a:ext cx="3806190" cy="857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754380" y="1255014"/>
            <a:ext cx="445770" cy="44577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754380" y="1357884"/>
            <a:ext cx="4457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</a:rPr>
              <a:t>1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303020" y="1255014"/>
            <a:ext cx="28117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51585" y="1555643"/>
            <a:ext cx="28117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predicted fraud cases, how many were truly fraud?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00600" y="1062990"/>
            <a:ext cx="3806190" cy="857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972050" y="1255014"/>
            <a:ext cx="445770" cy="44577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972050" y="1357884"/>
            <a:ext cx="4457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</a:rPr>
              <a:t>2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520690" y="1255014"/>
            <a:ext cx="28117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20690" y="1555643"/>
            <a:ext cx="28117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actual fraud cases, how many did the model catch?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2930" y="2263140"/>
            <a:ext cx="3806190" cy="857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754380" y="2455164"/>
            <a:ext cx="445770" cy="44577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754380" y="2558034"/>
            <a:ext cx="4457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</a:rPr>
              <a:t>3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303020" y="2455164"/>
            <a:ext cx="28117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03020" y="2750058"/>
            <a:ext cx="28117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Balances precision and recall; used for final selection</a:t>
            </a:r>
            <a:r>
              <a:rPr lang="en-US" sz="930" dirty="0">
                <a:solidFill>
                  <a:srgbClr val="334155"/>
                </a:solidFill>
              </a:rPr>
              <a:t>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800600" y="2263140"/>
            <a:ext cx="3806190" cy="857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972050" y="2455164"/>
            <a:ext cx="445770" cy="44577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4972050" y="2558034"/>
            <a:ext cx="44577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</a:rPr>
              <a:t>4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520690" y="2455164"/>
            <a:ext cx="28117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PR-AUC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20690" y="2757317"/>
            <a:ext cx="28117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Especially useful when the positive class is rare.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611630" y="3771900"/>
            <a:ext cx="5932170" cy="65151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1813169" y="3957066"/>
            <a:ext cx="1238641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tradeoff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154680" y="3888485"/>
            <a:ext cx="4389120" cy="441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recall catches more fraud,  higher precision reduces false alarms</a:t>
            </a:r>
            <a:r>
              <a:rPr lang="en-US" sz="938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 balances both.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88036"/>
            <a:ext cx="82296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Results: vertical progress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4048" y="630936"/>
            <a:ext cx="80924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compared model performance across each stage of development, from baselines to tuned models</a:t>
            </a:r>
            <a:r>
              <a:rPr lang="en-US" sz="1013" dirty="0"/>
              <a:t>.</a:t>
            </a:r>
          </a:p>
        </p:txBody>
      </p:sp>
      <p:sp>
        <p:nvSpPr>
          <p:cNvPr id="5" name="Shape 2"/>
          <p:cNvSpPr/>
          <p:nvPr/>
        </p:nvSpPr>
        <p:spPr>
          <a:xfrm>
            <a:off x="6212918" y="1474470"/>
            <a:ext cx="2571750" cy="291465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6000"/>
              </a:srgbClr>
            </a:outerShdw>
          </a:effectLst>
        </p:spPr>
        <p:txBody>
          <a:bodyPr/>
          <a:lstStyle/>
          <a:p>
            <a:endParaRPr lang="en-US" sz="1050"/>
          </a:p>
        </p:txBody>
      </p:sp>
      <p:sp>
        <p:nvSpPr>
          <p:cNvPr id="6" name="Text 3"/>
          <p:cNvSpPr/>
          <p:nvPr/>
        </p:nvSpPr>
        <p:spPr>
          <a:xfrm>
            <a:off x="6257925" y="960025"/>
            <a:ext cx="21945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75070" y="1748790"/>
            <a:ext cx="2057400" cy="133731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Autofit/>
          </a:bodyPr>
          <a:lstStyle/>
          <a:p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Logistic had high recall but very low precision.</a:t>
            </a:r>
          </a:p>
          <a:p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and </a:t>
            </a:r>
            <a:r>
              <a:rPr lang="en-US" sz="12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produced the strongest results.</a:t>
            </a:r>
          </a:p>
          <a:p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tuning improved Random Forest performance.</a:t>
            </a:r>
          </a:p>
          <a:p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threshold 0.3 achieved the best F1-score.</a:t>
            </a:r>
          </a:p>
        </p:txBody>
      </p:sp>
      <p:sp>
        <p:nvSpPr>
          <p:cNvPr id="8" name="Shape 5"/>
          <p:cNvSpPr/>
          <p:nvPr/>
        </p:nvSpPr>
        <p:spPr>
          <a:xfrm>
            <a:off x="6275070" y="3552444"/>
            <a:ext cx="994410" cy="219456"/>
          </a:xfrm>
          <a:prstGeom prst="roundRect">
            <a:avLst>
              <a:gd name="adj" fmla="val 1875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9" name="Text 6"/>
          <p:cNvSpPr/>
          <p:nvPr/>
        </p:nvSpPr>
        <p:spPr>
          <a:xfrm>
            <a:off x="6329934" y="3590163"/>
            <a:ext cx="88468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F1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72350" y="358673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 threshold 0.3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512A41-282D-C75C-446A-2888025FA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67542"/>
            <a:ext cx="5728476" cy="2826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0051" y="314325"/>
            <a:ext cx="541205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 results: baseline vs advanced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1" y="760800"/>
            <a:ext cx="7173759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compared simple reference models against stronger tree-based, boosting, and neural network approaches</a:t>
            </a:r>
            <a:r>
              <a:rPr sz="1000" dirty="0">
                <a:solidFill>
                  <a:srgbClr val="5B6F8A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6" y="1057275"/>
            <a:ext cx="185499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families compared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635" y="1371600"/>
            <a:ext cx="1771650" cy="885825"/>
          </a:xfrm>
          <a:prstGeom prst="round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7" name="Rounded Rectangle 6"/>
          <p:cNvSpPr/>
          <p:nvPr/>
        </p:nvSpPr>
        <p:spPr>
          <a:xfrm>
            <a:off x="485775" y="1343025"/>
            <a:ext cx="1771650" cy="8858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8" name="Rectangle 7"/>
          <p:cNvSpPr/>
          <p:nvPr/>
        </p:nvSpPr>
        <p:spPr>
          <a:xfrm>
            <a:off x="485775" y="1343025"/>
            <a:ext cx="45720" cy="8858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11" name="TextBox 10"/>
          <p:cNvSpPr txBox="1"/>
          <p:nvPr/>
        </p:nvSpPr>
        <p:spPr>
          <a:xfrm>
            <a:off x="577215" y="1458791"/>
            <a:ext cx="1457325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</a:p>
          <a:p>
            <a:r>
              <a:rPr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
Balanced Logistic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1735" y="1371600"/>
            <a:ext cx="1771650" cy="885825"/>
          </a:xfrm>
          <a:prstGeom prst="round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13" name="Rounded Rectangle 12"/>
          <p:cNvSpPr/>
          <p:nvPr/>
        </p:nvSpPr>
        <p:spPr>
          <a:xfrm>
            <a:off x="2428875" y="1343025"/>
            <a:ext cx="1771650" cy="8858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14" name="Rectangle 13"/>
          <p:cNvSpPr/>
          <p:nvPr/>
        </p:nvSpPr>
        <p:spPr>
          <a:xfrm>
            <a:off x="2428875" y="1343025"/>
            <a:ext cx="45720" cy="885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17" name="TextBox 16"/>
          <p:cNvSpPr txBox="1"/>
          <p:nvPr/>
        </p:nvSpPr>
        <p:spPr>
          <a:xfrm>
            <a:off x="2577465" y="1442612"/>
            <a:ext cx="1457325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Tree-based</a:t>
            </a:r>
          </a:p>
          <a:p>
            <a:r>
              <a:rPr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
RF threshold 0.3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635" y="2457450"/>
            <a:ext cx="1771650" cy="885825"/>
          </a:xfrm>
          <a:prstGeom prst="round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19" name="Rounded Rectangle 18"/>
          <p:cNvSpPr/>
          <p:nvPr/>
        </p:nvSpPr>
        <p:spPr>
          <a:xfrm>
            <a:off x="474604" y="2419975"/>
            <a:ext cx="1771650" cy="8858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20" name="Rectangle 19"/>
          <p:cNvSpPr/>
          <p:nvPr/>
        </p:nvSpPr>
        <p:spPr>
          <a:xfrm>
            <a:off x="485775" y="2428875"/>
            <a:ext cx="45720" cy="8858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23" name="TextBox 22"/>
          <p:cNvSpPr txBox="1"/>
          <p:nvPr/>
        </p:nvSpPr>
        <p:spPr>
          <a:xfrm>
            <a:off x="577215" y="2488432"/>
            <a:ext cx="145732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</a:p>
          <a:p>
            <a:r>
              <a:rPr sz="1250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Strong precision and PR-AUC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51735" y="2457450"/>
            <a:ext cx="1771650" cy="885825"/>
          </a:xfrm>
          <a:prstGeom prst="round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25" name="Rounded Rectangle 24"/>
          <p:cNvSpPr/>
          <p:nvPr/>
        </p:nvSpPr>
        <p:spPr>
          <a:xfrm>
            <a:off x="2428875" y="2428875"/>
            <a:ext cx="1771650" cy="8858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26" name="Rectangle 25"/>
          <p:cNvSpPr/>
          <p:nvPr/>
        </p:nvSpPr>
        <p:spPr>
          <a:xfrm>
            <a:off x="2428875" y="2428875"/>
            <a:ext cx="45720" cy="88582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29" name="TextBox 28"/>
          <p:cNvSpPr txBox="1"/>
          <p:nvPr/>
        </p:nvSpPr>
        <p:spPr>
          <a:xfrm>
            <a:off x="2554605" y="2519726"/>
            <a:ext cx="1457325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</a:t>
            </a:r>
          </a:p>
          <a:p>
            <a:r>
              <a:rPr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NN
Improved NN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52924" y="1190003"/>
            <a:ext cx="4367202" cy="211579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31" name="Rectangle 30"/>
          <p:cNvSpPr/>
          <p:nvPr/>
        </p:nvSpPr>
        <p:spPr>
          <a:xfrm>
            <a:off x="4626920" y="1488268"/>
            <a:ext cx="45719" cy="1714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32" name="TextBox 31"/>
          <p:cNvSpPr txBox="1"/>
          <p:nvPr/>
        </p:nvSpPr>
        <p:spPr>
          <a:xfrm>
            <a:off x="4772025" y="1228725"/>
            <a:ext cx="1454244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observations</a:t>
            </a:r>
          </a:p>
        </p:txBody>
      </p:sp>
      <p:sp>
        <p:nvSpPr>
          <p:cNvPr id="33" name="Oval 32"/>
          <p:cNvSpPr/>
          <p:nvPr/>
        </p:nvSpPr>
        <p:spPr>
          <a:xfrm>
            <a:off x="4812030" y="1674495"/>
            <a:ext cx="51435" cy="5143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34" name="TextBox 33"/>
          <p:cNvSpPr txBox="1"/>
          <p:nvPr/>
        </p:nvSpPr>
        <p:spPr>
          <a:xfrm>
            <a:off x="4914900" y="1628775"/>
            <a:ext cx="410522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models: </a:t>
            </a:r>
            <a:r>
              <a:rPr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reference point, but weaker overall</a:t>
            </a:r>
            <a:r>
              <a:rPr sz="844" dirty="0">
                <a:solidFill>
                  <a:srgbClr val="334155"/>
                </a:solidFill>
              </a:rPr>
              <a:t>.</a:t>
            </a:r>
          </a:p>
        </p:txBody>
      </p:sp>
      <p:sp>
        <p:nvSpPr>
          <p:cNvPr id="35" name="Oval 34"/>
          <p:cNvSpPr/>
          <p:nvPr/>
        </p:nvSpPr>
        <p:spPr>
          <a:xfrm>
            <a:off x="4812030" y="2028825"/>
            <a:ext cx="51435" cy="5143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36" name="TextBox 35"/>
          <p:cNvSpPr txBox="1"/>
          <p:nvPr/>
        </p:nvSpPr>
        <p:spPr>
          <a:xfrm>
            <a:off x="4914901" y="1983105"/>
            <a:ext cx="409278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 Logistic: </a:t>
            </a:r>
            <a:r>
              <a:rPr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recall, but too many false positives.</a:t>
            </a:r>
          </a:p>
        </p:txBody>
      </p:sp>
      <p:sp>
        <p:nvSpPr>
          <p:cNvPr id="37" name="Oval 36"/>
          <p:cNvSpPr/>
          <p:nvPr/>
        </p:nvSpPr>
        <p:spPr>
          <a:xfrm>
            <a:off x="4812030" y="2383155"/>
            <a:ext cx="51435" cy="5143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38" name="TextBox 37"/>
          <p:cNvSpPr txBox="1"/>
          <p:nvPr/>
        </p:nvSpPr>
        <p:spPr>
          <a:xfrm>
            <a:off x="4914900" y="2337435"/>
            <a:ext cx="422583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+ </a:t>
            </a:r>
            <a:r>
              <a:rPr sz="12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strongest overall model families</a:t>
            </a:r>
            <a:r>
              <a:rPr sz="844" dirty="0">
                <a:solidFill>
                  <a:srgbClr val="334155"/>
                </a:solidFill>
              </a:rPr>
              <a:t>.</a:t>
            </a:r>
          </a:p>
        </p:txBody>
      </p:sp>
      <p:sp>
        <p:nvSpPr>
          <p:cNvPr id="39" name="Oval 38"/>
          <p:cNvSpPr/>
          <p:nvPr/>
        </p:nvSpPr>
        <p:spPr>
          <a:xfrm>
            <a:off x="4812030" y="2737485"/>
            <a:ext cx="51435" cy="5143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40" name="TextBox 39"/>
          <p:cNvSpPr txBox="1"/>
          <p:nvPr/>
        </p:nvSpPr>
        <p:spPr>
          <a:xfrm>
            <a:off x="4914901" y="2691764"/>
            <a:ext cx="398906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networks: </a:t>
            </a:r>
            <a:r>
              <a:rPr sz="12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recall, but lower precision on this tabular dataset.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27272" y="4344885"/>
            <a:ext cx="3571875" cy="314325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75"/>
          </a:p>
        </p:txBody>
      </p:sp>
      <p:sp>
        <p:nvSpPr>
          <p:cNvPr id="42" name="TextBox 41"/>
          <p:cNvSpPr txBox="1"/>
          <p:nvPr/>
        </p:nvSpPr>
        <p:spPr>
          <a:xfrm>
            <a:off x="2021712" y="4410930"/>
            <a:ext cx="3438762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 dirty="0">
                <a:solidFill>
                  <a:srgbClr val="DC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choice: Random Forest with threshold 0.3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329184"/>
            <a:ext cx="54178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000" b="1" dirty="0">
                <a:solidFill>
                  <a:srgbClr val="111827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Final model selection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90906" y="672084"/>
            <a:ext cx="6720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5B6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with a 0.3 threshold gave the best precision-recall balance.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66344" y="1110996"/>
            <a:ext cx="3840480" cy="332613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" name="Text 3"/>
          <p:cNvSpPr/>
          <p:nvPr/>
        </p:nvSpPr>
        <p:spPr>
          <a:xfrm>
            <a:off x="685800" y="1337310"/>
            <a:ext cx="17145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5B6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model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563624"/>
            <a:ext cx="28117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99516" y="2071116"/>
            <a:ext cx="1611630" cy="260604"/>
          </a:xfrm>
          <a:prstGeom prst="roundRect">
            <a:avLst>
              <a:gd name="adj" fmla="val 47368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699516" y="2125980"/>
            <a:ext cx="161163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 = 0.3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592324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was selected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894076"/>
            <a:ext cx="3257550" cy="994410"/>
          </a:xfrm>
          <a:prstGeom prst="rect">
            <a:avLst/>
          </a:prstGeom>
          <a:noFill/>
          <a:ln/>
        </p:spPr>
        <p:txBody>
          <a:bodyPr wrap="square" lIns="476" tIns="476" rIns="476" bIns="476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F1-score among tested models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fraud recall without too many false alarms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Reliable for tabular transaction data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to save and use in the Streamlit app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0060" y="1110996"/>
            <a:ext cx="54864" cy="332613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800600" y="1110996"/>
            <a:ext cx="1200150" cy="754380"/>
          </a:xfrm>
          <a:prstGeom prst="roundRect">
            <a:avLst>
              <a:gd name="adj" fmla="val 12727"/>
            </a:avLst>
          </a:prstGeom>
          <a:solidFill>
            <a:srgbClr val="DBEAFE"/>
          </a:solidFill>
          <a:ln w="12700">
            <a:solidFill>
              <a:srgbClr val="DBEAF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903470" y="1220724"/>
            <a:ext cx="9944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B6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03470" y="1440180"/>
            <a:ext cx="99441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2563EB"/>
                </a:solidFill>
              </a:rPr>
              <a:t>0.8660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37910" y="1110996"/>
            <a:ext cx="1200150" cy="754380"/>
          </a:xfrm>
          <a:prstGeom prst="roundRect">
            <a:avLst>
              <a:gd name="adj" fmla="val 12727"/>
            </a:avLst>
          </a:prstGeom>
          <a:solidFill>
            <a:srgbClr val="D1FAE5"/>
          </a:solidFill>
          <a:ln w="12700">
            <a:solidFill>
              <a:srgbClr val="D1FAE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6240780" y="1220724"/>
            <a:ext cx="9944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B6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40780" y="1440180"/>
            <a:ext cx="99441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10B981"/>
                </a:solidFill>
              </a:rPr>
              <a:t>0.8571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75220" y="1110996"/>
            <a:ext cx="1200150" cy="754380"/>
          </a:xfrm>
          <a:prstGeom prst="roundRect">
            <a:avLst>
              <a:gd name="adj" fmla="val 12727"/>
            </a:avLst>
          </a:prstGeom>
          <a:solidFill>
            <a:srgbClr val="FFEDD5"/>
          </a:solidFill>
          <a:ln w="12700">
            <a:solidFill>
              <a:srgbClr val="FFEDD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7578090" y="1220724"/>
            <a:ext cx="9944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B6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78090" y="1440180"/>
            <a:ext cx="99441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97316"/>
                </a:solidFill>
              </a:rPr>
              <a:t>0.8615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09210" y="2914650"/>
            <a:ext cx="10287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solidFill>
                  <a:srgbClr val="FFFFFF"/>
                </a:solidFill>
              </a:rPr>
              <a:t>Model</a:t>
            </a:r>
            <a:endParaRPr lang="en-US" sz="713" dirty="0"/>
          </a:p>
        </p:txBody>
      </p:sp>
      <p:sp>
        <p:nvSpPr>
          <p:cNvPr id="25" name="Text 23"/>
          <p:cNvSpPr/>
          <p:nvPr/>
        </p:nvSpPr>
        <p:spPr>
          <a:xfrm>
            <a:off x="6412230" y="291465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Precision</a:t>
            </a:r>
            <a:endParaRPr lang="en-US" sz="713" dirty="0"/>
          </a:p>
        </p:txBody>
      </p:sp>
      <p:sp>
        <p:nvSpPr>
          <p:cNvPr id="26" name="Text 24"/>
          <p:cNvSpPr/>
          <p:nvPr/>
        </p:nvSpPr>
        <p:spPr>
          <a:xfrm>
            <a:off x="7029450" y="2914650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Recall</a:t>
            </a:r>
            <a:endParaRPr lang="en-US" sz="713" dirty="0"/>
          </a:p>
        </p:txBody>
      </p:sp>
      <p:sp>
        <p:nvSpPr>
          <p:cNvPr id="27" name="Text 25"/>
          <p:cNvSpPr/>
          <p:nvPr/>
        </p:nvSpPr>
        <p:spPr>
          <a:xfrm>
            <a:off x="7598664" y="2914650"/>
            <a:ext cx="4800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</a:rPr>
              <a:t>F1</a:t>
            </a:r>
            <a:endParaRPr lang="en-US" sz="713" dirty="0"/>
          </a:p>
        </p:txBody>
      </p:sp>
      <p:sp>
        <p:nvSpPr>
          <p:cNvPr id="33" name="Shape 31"/>
          <p:cNvSpPr/>
          <p:nvPr/>
        </p:nvSpPr>
        <p:spPr>
          <a:xfrm>
            <a:off x="1442768" y="4615223"/>
            <a:ext cx="4455111" cy="377190"/>
          </a:xfrm>
          <a:prstGeom prst="roundRect">
            <a:avLst>
              <a:gd name="adj" fmla="val 21818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pPr algn="ctr"/>
            <a:r>
              <a:rPr lang="en-US" sz="1250" b="1" dirty="0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 catches fraud while controlling false alarms</a:t>
            </a:r>
            <a:r>
              <a:rPr lang="en-US" sz="1050" b="1" dirty="0">
                <a:solidFill>
                  <a:srgbClr val="065F46"/>
                </a:solidFill>
              </a:rPr>
              <a:t>.</a:t>
            </a:r>
            <a:endParaRPr lang="en-US" sz="10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B0B67F0-E744-965A-8671-0842CA23F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310" y="2098800"/>
            <a:ext cx="3840480" cy="24816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329184"/>
            <a:ext cx="54178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11827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Critical component: threshold-based prediction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90906" y="672084"/>
            <a:ext cx="6720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5B6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app turns model probabilities into decisions using the selected 0.3 threshold.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3776" y="1083564"/>
            <a:ext cx="4217670" cy="3326130"/>
          </a:xfrm>
          <a:prstGeom prst="roundRect">
            <a:avLst>
              <a:gd name="adj" fmla="val 2887"/>
            </a:avLst>
          </a:prstGeom>
          <a:solidFill>
            <a:srgbClr val="111827"/>
          </a:solidFill>
          <a:ln w="12700">
            <a:solidFill>
              <a:srgbClr val="111827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" name="Text 3"/>
          <p:cNvSpPr/>
          <p:nvPr/>
        </p:nvSpPr>
        <p:spPr>
          <a:xfrm>
            <a:off x="640080" y="1297568"/>
            <a:ext cx="17145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walkthrough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527929"/>
            <a:ext cx="3737610" cy="1577340"/>
          </a:xfrm>
          <a:prstGeom prst="rect">
            <a:avLst/>
          </a:prstGeom>
          <a:solidFill>
            <a:srgbClr val="0B1220"/>
          </a:solidFill>
          <a:ln>
            <a:solidFill>
              <a:srgbClr val="334155"/>
            </a:solidFill>
          </a:ln>
        </p:spPr>
        <p:txBody>
          <a:bodyPr wrap="square" lIns="1429" tIns="1429" rIns="1429" bIns="1429" rtlCol="0" anchor="ctr">
            <a:normAutofit/>
          </a:bodyPr>
          <a:lstStyle/>
          <a:p>
            <a:r>
              <a:rPr lang="en-US" sz="12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data_scaled = scaler.transform(data_for_prediction)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fraud_probabilities = model.predict_proba(data_scaled)[:, 1]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predictions = (fraud_probabilities &gt;= threshold).astype(int)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242857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idea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3586031"/>
            <a:ext cx="36690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25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outputs a probability first. The threshold controls when that probability becomes a fraud alert.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48738" y="1131570"/>
            <a:ext cx="259793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in the app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109210" y="1508760"/>
            <a:ext cx="288036" cy="2880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109210" y="1570482"/>
            <a:ext cx="2880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FFFFFF"/>
                </a:solidFill>
              </a:rPr>
              <a:t>1</a:t>
            </a:r>
            <a:endParaRPr lang="en-US" sz="788" dirty="0"/>
          </a:p>
        </p:txBody>
      </p:sp>
      <p:sp>
        <p:nvSpPr>
          <p:cNvPr id="12" name="Shape 10"/>
          <p:cNvSpPr/>
          <p:nvPr/>
        </p:nvSpPr>
        <p:spPr>
          <a:xfrm>
            <a:off x="5520690" y="1488186"/>
            <a:ext cx="2811780" cy="342900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 w="12700">
            <a:solidFill>
              <a:srgbClr val="DBEAF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657850" y="1591056"/>
            <a:ext cx="250317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 uploaded data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109210" y="2043684"/>
            <a:ext cx="288036" cy="2880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5109210" y="2105406"/>
            <a:ext cx="2880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FFFFFF"/>
                </a:solidFill>
              </a:rPr>
              <a:t>2</a:t>
            </a:r>
            <a:endParaRPr lang="en-US" sz="788" dirty="0"/>
          </a:p>
        </p:txBody>
      </p:sp>
      <p:sp>
        <p:nvSpPr>
          <p:cNvPr id="16" name="Shape 14"/>
          <p:cNvSpPr/>
          <p:nvPr/>
        </p:nvSpPr>
        <p:spPr>
          <a:xfrm>
            <a:off x="5520690" y="2023110"/>
            <a:ext cx="2811780" cy="342900"/>
          </a:xfrm>
          <a:prstGeom prst="roundRect">
            <a:avLst>
              <a:gd name="adj" fmla="val 28000"/>
            </a:avLst>
          </a:prstGeom>
          <a:solidFill>
            <a:srgbClr val="D1FAE5"/>
          </a:solidFill>
          <a:ln w="12700">
            <a:solidFill>
              <a:srgbClr val="D1FAE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5657850" y="2125980"/>
            <a:ext cx="250317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fraud probability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109210" y="2578608"/>
            <a:ext cx="288036" cy="28803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5109210" y="2640330"/>
            <a:ext cx="2880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FFFFFF"/>
                </a:solidFill>
              </a:rPr>
              <a:t>3</a:t>
            </a:r>
            <a:endParaRPr lang="en-US" sz="788" dirty="0"/>
          </a:p>
        </p:txBody>
      </p:sp>
      <p:sp>
        <p:nvSpPr>
          <p:cNvPr id="20" name="Shape 18"/>
          <p:cNvSpPr/>
          <p:nvPr/>
        </p:nvSpPr>
        <p:spPr>
          <a:xfrm>
            <a:off x="5520690" y="2558034"/>
            <a:ext cx="2811780" cy="342900"/>
          </a:xfrm>
          <a:prstGeom prst="roundRect">
            <a:avLst>
              <a:gd name="adj" fmla="val 28000"/>
            </a:avLst>
          </a:prstGeom>
          <a:solidFill>
            <a:srgbClr val="FFEDD5"/>
          </a:solidFill>
          <a:ln w="12700">
            <a:solidFill>
              <a:srgbClr val="FFEDD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5657850" y="2660904"/>
            <a:ext cx="250317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F973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threshold 0.3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109210" y="3113532"/>
            <a:ext cx="288036" cy="2880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5109210" y="3175254"/>
            <a:ext cx="2880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FFFFFF"/>
                </a:solidFill>
              </a:rPr>
              <a:t>4</a:t>
            </a:r>
            <a:endParaRPr lang="en-US" sz="788" dirty="0"/>
          </a:p>
        </p:txBody>
      </p:sp>
      <p:sp>
        <p:nvSpPr>
          <p:cNvPr id="24" name="Shape 22"/>
          <p:cNvSpPr/>
          <p:nvPr/>
        </p:nvSpPr>
        <p:spPr>
          <a:xfrm>
            <a:off x="5520690" y="3092958"/>
            <a:ext cx="2811780" cy="342900"/>
          </a:xfrm>
          <a:prstGeom prst="roundRect">
            <a:avLst>
              <a:gd name="adj" fmla="val 28000"/>
            </a:avLst>
          </a:prstGeom>
          <a:solidFill>
            <a:srgbClr val="EDE9FE"/>
          </a:solidFill>
          <a:ln w="12700">
            <a:solidFill>
              <a:srgbClr val="EDE9FE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5657850" y="3195828"/>
            <a:ext cx="250317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7C3AE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 transaction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109210" y="3909060"/>
            <a:ext cx="3257550" cy="630936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5234412" y="3991356"/>
            <a:ext cx="92583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5B6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rule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18938" y="4276754"/>
            <a:ext cx="14058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DC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&gt;= 0.3  -&gt;  Fraudulent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23710" y="423824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&lt; 0.3  -&gt;  Legitimate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6408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Demonstration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318B3-CDF5-5C6A-472B-FFA42FD0E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770" y="1419527"/>
            <a:ext cx="7030500" cy="2541600"/>
          </a:xfrm>
        </p:spPr>
        <p:txBody>
          <a:bodyPr>
            <a:normAutofit fontScale="85000" lnSpcReduction="20000"/>
          </a:bodyPr>
          <a:lstStyle/>
          <a:p>
            <a:pPr marL="14605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App</a:t>
            </a:r>
          </a:p>
          <a:p>
            <a:pPr marL="14605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project includes a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for fraud prediction.</a:t>
            </a:r>
          </a:p>
          <a:p>
            <a:pPr marL="14605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features:</a:t>
            </a:r>
          </a:p>
          <a:p>
            <a:pPr marL="889000" lvl="1" indent="-28575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CSV transaction data </a:t>
            </a:r>
          </a:p>
          <a:p>
            <a:pPr marL="889000" lvl="1" indent="-28575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Preview uploaded data </a:t>
            </a:r>
          </a:p>
          <a:p>
            <a:pPr marL="889000" lvl="1" indent="-28575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file summary </a:t>
            </a:r>
          </a:p>
          <a:p>
            <a:pPr marL="889000" lvl="1" indent="-28575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fraud probabilities </a:t>
            </a:r>
          </a:p>
          <a:p>
            <a:pPr marL="889000" lvl="1" indent="-28575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predicted fraud and legitimate counts </a:t>
            </a:r>
          </a:p>
          <a:p>
            <a:pPr marL="889000" lvl="1" indent="-28575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actual vs predicted fraud count if Class is included </a:t>
            </a:r>
          </a:p>
          <a:p>
            <a:pPr marL="889000" lvl="1" indent="-28575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Preview predicted fraud cases </a:t>
            </a:r>
          </a:p>
          <a:p>
            <a:pPr marL="889000" lvl="1" indent="-28575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full prediction results </a:t>
            </a:r>
          </a:p>
          <a:p>
            <a:pPr marL="889000" lvl="1" indent="-28575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interface includes upload, summary, prediction, visualization, and download sections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329184"/>
            <a:ext cx="54178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000" b="1" dirty="0">
                <a:solidFill>
                  <a:srgbClr val="111827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Limitations and future work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90906" y="672084"/>
            <a:ext cx="6720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5B6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current solution works as a project demo, with clear paths for improvement</a:t>
            </a:r>
            <a:r>
              <a:rPr lang="en-US" sz="1013" dirty="0">
                <a:solidFill>
                  <a:srgbClr val="5B6B82"/>
                </a:solidFill>
              </a:rPr>
              <a:t>.</a:t>
            </a:r>
            <a:endParaRPr lang="en-US" sz="1013" dirty="0"/>
          </a:p>
        </p:txBody>
      </p:sp>
      <p:sp>
        <p:nvSpPr>
          <p:cNvPr id="4" name="Shape 2"/>
          <p:cNvSpPr/>
          <p:nvPr/>
        </p:nvSpPr>
        <p:spPr>
          <a:xfrm>
            <a:off x="514350" y="1062990"/>
            <a:ext cx="3806190" cy="339471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514350" y="1062990"/>
            <a:ext cx="54864" cy="339471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754380" y="1303020"/>
            <a:ext cx="2057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limitations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88670" y="1748790"/>
            <a:ext cx="3154680" cy="1508760"/>
          </a:xfrm>
          <a:prstGeom prst="rect">
            <a:avLst/>
          </a:prstGeom>
          <a:noFill/>
          <a:ln/>
        </p:spPr>
        <p:txBody>
          <a:bodyPr wrap="square" lIns="476" tIns="476" rIns="476" bIns="476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are anonymized, so interpretation is limited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expects the same feature format as training data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was trained on historical transactions only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 patterns can change over time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00600" y="1062990"/>
            <a:ext cx="3806190" cy="339471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4800600" y="1062990"/>
            <a:ext cx="54864" cy="339471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5040630" y="1303020"/>
            <a:ext cx="2125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74920" y="1748790"/>
            <a:ext cx="3154680" cy="1714500"/>
          </a:xfrm>
          <a:prstGeom prst="rect">
            <a:avLst/>
          </a:prstGeom>
          <a:noFill/>
          <a:ln/>
        </p:spPr>
        <p:txBody>
          <a:bodyPr wrap="square" lIns="476" tIns="476" rIns="476" bIns="476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fraud detection support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performance drift over time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 SMOTE or other resampling methods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SHAP values for model explainability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the app online for easier access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508760" y="4560570"/>
            <a:ext cx="6103620" cy="342900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1645920" y="4663440"/>
            <a:ext cx="58293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takeaway: fraud detection needs threshold-aware evaluation, not just accuracy.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5"/>
          <p:cNvSpPr txBox="1">
            <a:spLocks noGrp="1"/>
          </p:cNvSpPr>
          <p:nvPr>
            <p:ph type="title"/>
          </p:nvPr>
        </p:nvSpPr>
        <p:spPr>
          <a:xfrm>
            <a:off x="3768600" y="1638875"/>
            <a:ext cx="1606800" cy="20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867</Words>
  <Application>Microsoft Macintosh PowerPoint</Application>
  <PresentationFormat>On-screen Show (16:9)</PresentationFormat>
  <Paragraphs>181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Aptos Display</vt:lpstr>
      <vt:lpstr>Aptos</vt:lpstr>
      <vt:lpstr>Maven Pro</vt:lpstr>
      <vt:lpstr>Nunito</vt:lpstr>
      <vt:lpstr>Times New Roman</vt:lpstr>
      <vt:lpstr>Aptos Mono</vt:lpstr>
      <vt:lpstr>Momentum</vt:lpstr>
      <vt:lpstr>Credit Card Fraud Detection Using Machine Learning and Neural Networks   Jayana Sarma, Nayana Nagarajappa                                                                                                           </vt:lpstr>
      <vt:lpstr>Application Context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 Demonstration 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Jayana Sarma</cp:lastModifiedBy>
  <cp:revision>1</cp:revision>
  <dcterms:modified xsi:type="dcterms:W3CDTF">2026-05-10T09:11:04Z</dcterms:modified>
</cp:coreProperties>
</file>